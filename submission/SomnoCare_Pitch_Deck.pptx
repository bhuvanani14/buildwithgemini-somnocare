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oogle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GoogleSans-regular.fntdata"/><Relationship Id="rId18" Type="http://schemas.openxmlformats.org/officeDocument/2006/relationships/font" Target="fonts/GoogleSans-bold.fntdata"/><Relationship Id="rId19" Type="http://schemas.openxmlformats.org/officeDocument/2006/relationships/font" Target="fonts/GoogleSans-italic.fntdata"/><Relationship Id="rId20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651ae8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3651ae8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651ae8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3651ae8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 l="0" r="0" t="0"/>
          <a:stretch/>
        </p:blipFill>
        <p:spPr>
          <a:xfrm>
            <a:off x="0" y="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63125" y="3034275"/>
            <a:ext cx="82704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sz="1200">
                <a:solidFill>
                  <a:srgbClr val="0F172A"/>
                </a:solidFill>
                <a:latin typeface="Arial"/>
              </a:rPr>
              <a:t>Participant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Participant / Presenter Names:</a:t>
            </a:r>
            <a:r>
              <a:rPr b="0" sz="1200">
                <a:solidFill>
                  <a:srgbClr val="1E293B"/>
                </a:solidFill>
                <a:latin typeface="Arial"/>
              </a:rPr>
              <a:t> Bhuvanani Vattikonda &amp; Darshan Gowda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Project Title:</a:t>
            </a:r>
            <a:r>
              <a:rPr b="0" sz="1200">
                <a:solidFill>
                  <a:srgbClr val="1E293B"/>
                </a:solidFill>
                <a:latin typeface="Arial"/>
              </a:rPr>
              <a:t> SomnoCare — Simplified AI CPAP Adherence, Sleep Apnea Screening &amp; Lifestyle Coach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Problem Statement:</a:t>
            </a:r>
            <a:r>
              <a:rPr b="0" sz="1200">
                <a:solidFill>
                  <a:srgbClr val="1E293B"/>
                </a:solidFill>
                <a:latin typeface="Arial"/>
              </a:rPr>
              <a:t> Build an intelligent, accessible healthcare &amp; wellness agent using Google ADK, Gemini 2.5 Flash, Cloud Run &amp; Firestore that empowers everyday patients to screen for Obstructive Sleep Apnea (OSA), maintain CPAP insurance compliance, and improve airway health.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Live Prototype:</a:t>
            </a:r>
            <a:r>
              <a:rPr b="0" sz="1200">
                <a:solidFill>
                  <a:srgbClr val="1E293B"/>
                </a:solidFill>
                <a:latin typeface="Arial"/>
              </a:rPr>
              <a:t> https://somnocare-ai.netlify.app  |  GitHub: https://github.com/Bhuvanani14/somnocare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100">
                <a:solidFill>
                  <a:srgbClr val="0F172A"/>
                </a:solidFill>
                <a:latin typeface="Arial"/>
              </a:rPr>
              <a:t>Project Vision:</a:t>
            </a:r>
            <a:r>
              <a:rPr b="0" sz="1100">
                <a:solidFill>
                  <a:srgbClr val="1E293B"/>
                </a:solidFill>
                <a:latin typeface="Arial"/>
              </a:rPr>
              <a:t> Make clinical-grade Sleep Apnea (OSA) screening, CPAP therapy adherence, and daily airway exercise effortless for any layperson.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The Core Problem:</a:t>
            </a:r>
            <a:r>
              <a:rPr b="0" sz="1100">
                <a:solidFill>
                  <a:srgbClr val="1E293B"/>
                </a:solidFill>
                <a:latin typeface="Arial"/>
              </a:rPr>
              <a:t> Nearly 1 billion adults suffer from Obstructive Sleep Apnea, and up to 50% of prescribed CPAP users abandon therapy within Year 1 due to mask leaks, nasal dryness, complex medical jargon, and disconnected lifestyle habits (weight, smoking, posture).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Our Solution — SomnoCare v2.0:</a:t>
            </a:r>
            <a:r>
              <a:rPr b="0" sz="1100">
                <a:solidFill>
                  <a:srgbClr val="1E293B"/>
                </a:solidFill>
                <a:latin typeface="Arial"/>
              </a:rPr>
              <a:t> A simplified, 5-step Light &amp; Dark Mode companion built on Google ADK, Gemini 2.5 Flash, Cloud Firestore, and Cloud Run.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1. Everyday Simplicity &amp; Security:</a:t>
            </a:r>
            <a:r>
              <a:rPr b="0" sz="1100">
                <a:solidFill>
                  <a:srgbClr val="1E293B"/>
                </a:solidFill>
                <a:latin typeface="Arial"/>
              </a:rPr>
              <a:t> Jargon-free Daily Summary cards (Light Mode default + Dark Mode toggle), PBKDF2-SHA256 login, personalized onboarding, and a 4-digit Privacy PIN lock screen.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2. Clinical Risk &amp; Lifestyle Layer:</a:t>
            </a:r>
            <a:r>
              <a:rPr b="0" sz="1100">
                <a:solidFill>
                  <a:srgbClr val="1E293B"/>
                </a:solidFill>
                <a:latin typeface="Arial"/>
              </a:rPr>
              <a:t> Tracks Age, BMI trend, Smoking Quit Streak, official 8-item STOP-BANG &amp; Epworth Sleepiness Scale (ESS), and correlates Weight/BMI &amp; Snoring directly with AHI reduction.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3. Edge AI Multimodal Coaching:</a:t>
            </a:r>
            <a:r>
              <a:rPr b="0" sz="1100">
                <a:solidFill>
                  <a:srgbClr val="1E293B"/>
                </a:solidFill>
                <a:latin typeface="Arial"/>
              </a:rPr>
              <a:t> On-device WebAudio FFT Snore Detector (80–350 Hz), MediaPipe/OpenCV 2D Pose Skeleton Coach for Squats, Yoga &amp; Oropharyngeal Throat Exercises, Multilingual Voice Logging (EN/HI/KN/TE), Open-Meteo CPAP Humidifier tuning, and 1-Click Physician PDF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63125" y="2606040"/>
            <a:ext cx="82704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Real-World Clinical Impact:</a:t>
            </a:r>
            <a:r>
              <a:rPr b="0" sz="1000">
                <a:solidFill>
                  <a:srgbClr val="1E293B"/>
                </a:solidFill>
                <a:latin typeface="Arial"/>
              </a:rPr>
              <a:t> Prevents CPAP therapy dropout (saving CMS 4h/70% insurance coverage) while addressing root-cause OSA risk factors (BMI, smoking inflammation, supine sleeping, and upper-airway muscle tone).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Translating into a Working Solution with Google ADK &amp; Gemini 2.5 Flash: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Agentic Tool Orchestration:</a:t>
            </a:r>
            <a:r>
              <a:rPr b="0" sz="1000">
                <a:solidFill>
                  <a:srgbClr val="1E293B"/>
                </a:solidFill>
                <a:latin typeface="Arial"/>
              </a:rPr>
              <a:t> Built `somnocare_agent` in Google ADK (`app/agent.py`) equipped with 12 deterministic clinical tools (`get_profile`, `update_profile`, `evaluate_osa_risk_and_screening`, `calculate_cms_adherence_compliance`, `log_sleep_therapy_entry`, `log_exercise_or_yoga_session`, `get_local_weather_for_humidifier`, etc.).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Statistical Correlation Engine:</a:t>
            </a:r>
            <a:r>
              <a:rPr b="0" sz="1000">
                <a:solidFill>
                  <a:srgbClr val="1E293B"/>
                </a:solidFill>
                <a:latin typeface="Arial"/>
              </a:rPr>
              <a:t> Computes live Pearson correlation (r) linking Weight change -&gt; AHI (r = +0.94) and Snoring -&gt; AHI (r = +0.97).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Deterministic Red-Flag Safety Guard:</a:t>
            </a:r>
            <a:r>
              <a:rPr b="0" sz="1000">
                <a:solidFill>
                  <a:srgbClr val="1E293B"/>
                </a:solidFill>
                <a:latin typeface="Arial"/>
              </a:rPr>
              <a:t> Intercepts chest pain, syncope, drowsy driving, or AHI &gt;= 30 before coaching and escalates to emergency/physician care.</a:t>
            </a:r>
          </a:p>
        </p:txBody>
      </p:sp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Your solution should be able to explain the following: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How did you approach the common problem statement and translate it into a working solution using ADK, MCP/AlloyDB AI while ensuring Hackathon’s core requirements are met?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real-world problem does your solution address, and what practical impact does it create for users?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is the core approach or workflow behind your solution?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3125" y="2057400"/>
            <a:ext cx="82704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How SomnoCare Differs from Existing CPAP Manufacturer Apps (myAir / DreamMapper):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Holistic OSA Risk + Therapy (Not Just Machine Data):</a:t>
            </a:r>
            <a:r>
              <a:rPr b="0" sz="1000">
                <a:solidFill>
                  <a:srgbClr val="1E293B"/>
                </a:solidFill>
                <a:latin typeface="Arial"/>
              </a:rPr>
              <a:t> Manufacturer apps only show basic machine hours. SomnoCare unifies STOP-BANG &amp; ESS clinical screening, BMI/Weight trends, Smoke-Free airway recovery, and positional therapy in one place.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Built for a Basic Layperson (Light &amp; Dark Mode):</a:t>
            </a:r>
            <a:r>
              <a:rPr b="0" sz="1000">
                <a:solidFill>
                  <a:srgbClr val="1E293B"/>
                </a:solidFill>
                <a:latin typeface="Arial"/>
              </a:rPr>
              <a:t> Replaces confusing clinical tables with 5 plain-English steps, traffic-light status badges, and hands-free voice logging in English, Hindi, Kannada, and Telugu.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On-Device Computer Vision &amp; Acoustic Privacy:</a:t>
            </a:r>
            <a:r>
              <a:rPr b="0" sz="1000">
                <a:solidFill>
                  <a:srgbClr val="1E293B"/>
                </a:solidFill>
                <a:latin typeface="Arial"/>
              </a:rPr>
              <a:t> Runs MediaPipe/OpenCV Pose rep-counting (Squats, Yoga Bridge, Cat-Cow, Oropharyngeal Throat exercises) and WebAudio FFT Snoring detection 100% locally in the browser—zero raw video or bedroom audio is ever uploaded.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Environmental CPAP Auto-Tuning:</a:t>
            </a:r>
            <a:r>
              <a:rPr b="0" sz="1000">
                <a:solidFill>
                  <a:srgbClr val="1E293B"/>
                </a:solidFill>
                <a:latin typeface="Arial"/>
              </a:rPr>
              <a:t> Uses live Open-Meteo temperature, humidity &amp; PM2.5 AQI to recommend exact CPAP humidifier levels (1–8) and heated-tube temperatures to stop rainout and dry mouth.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Enterprise Security &amp; Doctor Handoff:</a:t>
            </a:r>
            <a:r>
              <a:rPr b="0" sz="1000">
                <a:solidFill>
                  <a:srgbClr val="1E293B"/>
                </a:solidFill>
                <a:latin typeface="Arial"/>
              </a:rPr>
              <a:t> PBKDF2-SHA256 authentication, 4-digit PIN privacy lock, granular camera/mic consent toggles, Firestore audit logs, and 1-click ReportLab Physician PDF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1. Simplified 5-Step UI (Light &amp; Dark Mode):</a:t>
            </a:r>
            <a:r>
              <a:rPr b="0" sz="1000">
                <a:solidFill>
                  <a:srgbClr val="1E293B"/>
                </a:solidFill>
                <a:latin typeface="Arial"/>
              </a:rPr>
              <a:t> Clean layperson cards for Insurance Status, AHI, BMI, STOP-BANG &amp; Smoke-Free Streak.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2. Login, Personalization &amp; Security Center:</a:t>
            </a:r>
            <a:r>
              <a:rPr b="0" sz="1000">
                <a:solidFill>
                  <a:srgbClr val="1E293B"/>
                </a:solidFill>
                <a:latin typeface="Arial"/>
              </a:rPr>
              <a:t> PBKDF2-HMAC-SHA256 login, account registration, 4-digit PIN lock screen, and Security Audit Log.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3. Profile, BMI &amp; Smoke-Free Streak:</a:t>
            </a:r>
            <a:r>
              <a:rPr b="0" sz="1000">
                <a:solidFill>
                  <a:srgbClr val="1E293B"/>
                </a:solidFill>
                <a:latin typeface="Arial"/>
              </a:rPr>
              <a:t> Tracks Age, Height, Weight, BMI category, Neck circumference, and days smoke-free.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4. Clinical OSA Screening (STOP-BANG + ESS):</a:t>
            </a:r>
            <a:r>
              <a:rPr b="0" sz="1000">
                <a:solidFill>
                  <a:srgbClr val="1E293B"/>
                </a:solidFill>
                <a:latin typeface="Arial"/>
              </a:rPr>
              <a:t> Official Chung et al. 8-item STOP-BANG &amp; Johns 8-item Epworth Sleepiness Scale with drowsy-driving alert.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5. On-Device Acoustic Snore Detector &amp; Voice Logging:</a:t>
            </a:r>
            <a:r>
              <a:rPr b="0" sz="1000">
                <a:solidFill>
                  <a:srgbClr val="1E293B"/>
                </a:solidFill>
                <a:latin typeface="Arial"/>
              </a:rPr>
              <a:t> 80–350 Hz WebAudio FFT snore classifier + Multilingual voice parser (EN/HI/KN/TE).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6. OpenCV / MediaPipe Pose &amp; Throat Exercise Coach:</a:t>
            </a:r>
            <a:r>
              <a:rPr b="0" sz="1000">
                <a:solidFill>
                  <a:srgbClr val="1E293B"/>
                </a:solidFill>
                <a:latin typeface="Arial"/>
              </a:rPr>
              <a:t> Live 2D skeleton &amp; joint-angle rep counter for Squats, Push-ups, Yoga Bridge, Cat-Cow &amp; Oropharyngeal tongue slides.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7. Guided 4-7-8 Pranayama &amp; Late-Meal Logger:</a:t>
            </a:r>
            <a:r>
              <a:rPr b="0" sz="1000">
                <a:solidFill>
                  <a:srgbClr val="1E293B"/>
                </a:solidFill>
                <a:latin typeface="Arial"/>
              </a:rPr>
              <a:t> Animated nasal breathing pacer and dinner-to-bedtime reflux risk tracker.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8. Live Weather/AQI CPAP Humidifier Tuner:</a:t>
            </a:r>
            <a:r>
              <a:rPr b="0" sz="1000">
                <a:solidFill>
                  <a:srgbClr val="1E293B"/>
                </a:solidFill>
                <a:latin typeface="Arial"/>
              </a:rPr>
              <a:t> Open-Meteo telemetry prescribes CPAP humidifier level &amp; heated tube temp.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9. Sleep Study PDF Extractor &amp; 1-Click Doctor PDF Report:</a:t>
            </a:r>
            <a:r>
              <a:rPr b="0" sz="1000">
                <a:solidFill>
                  <a:srgbClr val="1E293B"/>
                </a:solidFill>
                <a:latin typeface="Arial"/>
              </a:rPr>
              <a:t> Extracts Diagnostic AHI/SpO2 from PSG reports and exports a 30-day Physician PDF.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10. Conversational Gemini 2.5 Flash Coach + A2UI v0.8 Cards:</a:t>
            </a:r>
            <a:r>
              <a:rPr b="0" sz="1000">
                <a:solidFill>
                  <a:srgbClr val="1E293B"/>
                </a:solidFill>
                <a:latin typeface="Arial"/>
              </a:rPr>
              <a:t> Interactive clinical chat with Red-Flag emergency safety escalation.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End-to-End Patient Journey — From Secure Onboarding &amp; Screening to Daily Coaching &amp; Physician PDF Handoff: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2" name="Picture 91" descr="process_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417320"/>
            <a:ext cx="8211312" cy="4003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Simplified 5-Step Interface Wireframe Layout (Designed for Zero Cognitive Overload):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Top Bar:</a:t>
            </a:r>
            <a:r>
              <a:rPr b="0" sz="1000">
                <a:solidFill>
                  <a:srgbClr val="1E293B"/>
                </a:solidFill>
                <a:latin typeface="Arial"/>
              </a:rPr>
              <a:t> Brand Status Pill (Insurance Compliant) + Patient Summary + [Light/Dark Mode] + [Doctor PDF] + [PIN Lock] + [Account]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1 (My Daily Summary):</a:t>
            </a:r>
            <a:r>
              <a:rPr b="0" sz="1000">
                <a:solidFill>
                  <a:srgbClr val="1E293B"/>
                </a:solidFill>
                <a:latin typeface="Arial"/>
              </a:rPr>
              <a:t> 5 Plain-Language KPI Cards + 14-Day CPAP/AHI/Snoring Chart + Weight/BMI vs. AHI Chart + Badges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2 (Log Sleep &amp; Snoring):</a:t>
            </a:r>
            <a:r>
              <a:rPr b="0" sz="1000">
                <a:solidFill>
                  <a:srgbClr val="1E293B"/>
                </a:solidFill>
                <a:latin typeface="Arial"/>
              </a:rPr>
              <a:t> [Left] WebAudio FFT Snore Microphone + Multilingual Voice Logger | [Right] Simple Nightly Sleep Form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3 (My Body &amp; Risk Check):</a:t>
            </a:r>
            <a:r>
              <a:rPr b="0" sz="1000">
                <a:solidFill>
                  <a:srgbClr val="1E293B"/>
                </a:solidFill>
                <a:latin typeface="Arial"/>
              </a:rPr>
              <a:t> [Left] Age, Height, Weight, Neck Size &amp; Smoking Tracker | [Right] 8-Item STOP-BANG &amp; Epworth Check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4 (Easy Exercise &amp; Breathing):</a:t>
            </a:r>
            <a:r>
              <a:rPr b="0" sz="1000">
                <a:solidFill>
                  <a:srgbClr val="1E293B"/>
                </a:solidFill>
                <a:latin typeface="Arial"/>
              </a:rPr>
              <a:t> OpenCV/MediaPipe Pose Canvas (Joint Angle + Rep Counter) + 4-7-8 Breathing Pacer + Weather Tuner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5 (Ask AI Coach &amp; Security):</a:t>
            </a:r>
            <a:r>
              <a:rPr b="0" sz="1000">
                <a:solidFill>
                  <a:srgbClr val="1E293B"/>
                </a:solidFill>
                <a:latin typeface="Arial"/>
              </a:rPr>
              <a:t> Gemini 2.5 Flash Chat with A2UI Cards + Privacy Consent Toggles + Security Audit Log + PSG Upload</a:t>
            </a:r>
          </a:p>
        </p:txBody>
      </p:sp>
      <p:pic>
        <p:nvPicPr>
          <p:cNvPr id="99" name="Picture 98" descr="01_login_gatewa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90672"/>
            <a:ext cx="3840480" cy="2400300"/>
          </a:xfrm>
          <a:prstGeom prst="rect">
            <a:avLst/>
          </a:prstGeom>
        </p:spPr>
      </p:pic>
      <p:pic>
        <p:nvPicPr>
          <p:cNvPr id="100" name="Picture 99" descr="06_opencv_pose_yoga_co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90672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Layered Cloud-Native Architecture combining Edge Privacy (WebAudio/MediaPipe) with Google Cloud Run, ADK, Gemini 2.5 Flash &amp; Firestore: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6" name="Picture 105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417320"/>
            <a:ext cx="8211312" cy="4003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</a:t>
            </a: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/Google Services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used in the solution</a:t>
            </a:r>
            <a:b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</a:t>
            </a:r>
            <a:r>
              <a:rPr lang="en-GB" sz="1000">
                <a:latin typeface="Google Sans"/>
                <a:ea typeface="Google Sans"/>
                <a:cs typeface="Google Sans"/>
                <a:sym typeface="Google Sans"/>
              </a:rPr>
              <a:t>Why did you choose your specific AI stack and system design, and how does it support scalability and real-world deployment?)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3125" y="1417320"/>
            <a:ext cx="82704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1. Google Agent Development Kit (ADK) &amp; Gemini 2.5 Flash (`google-adk`, `google-genai`):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Powers `somnocare_agent` with 12 strongly-typed clinical tools, Session Memory Bank, multimodal sleep-study PDF parsing, multilingual voice extraction, and A2UI v0.8 structured card generation.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2. Google Cloud Firestore &amp; Firebase Ecosystem (`google-cloud-firestore`):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Stores real-time document collections (`patient_profile`, `sleep_logs`, `exercise_logs`, `meal_logs`, `partner_observations`, `users_auth`, `security_audit_logs`) with hybrid local JSON fallback for 100% uptime.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3. Google Cloud Run &amp; Cloud Build (`Dockerfile`, `deploy_cloud_run.sh`, FastAPI/Uvicorn):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Stateless, autoscaling container serving both the REST/Agent API and static SPA with strict HTTP security headers (`CSP`, `X-Frame-Options`, `X-Content-Type-Options`).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4. Edge Computer Vision &amp; Signal Processing (MediaPipe Pose / OpenCV Geometry + WebAudio API):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Executes 30 FPS skeletal joint-angle rep counting and 80–350 Hz acoustic snore detection on-device for zero-latency feedback and total patient privacy.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5. ReportLab Clinical PDF Engine &amp; Open-Meteo Telemetry API: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Generates physician-ready 30-day compliance reports and live weather/AQI CPAP humidifier prescriptions.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Live Working Prototype Snapshots — Light Mode, Dark Mode, Snoring &amp; Voice Log, and STOP-BANG/BMI Screening: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1" name="Picture 120" descr="02_daily_summar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44752"/>
            <a:ext cx="3931920" cy="2457450"/>
          </a:xfrm>
          <a:prstGeom prst="rect">
            <a:avLst/>
          </a:prstGeom>
        </p:spPr>
      </p:pic>
      <p:pic>
        <p:nvPicPr>
          <p:cNvPr id="122" name="Picture 121" descr="03_daily_summary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44752"/>
            <a:ext cx="3931920" cy="2457450"/>
          </a:xfrm>
          <a:prstGeom prst="rect">
            <a:avLst/>
          </a:prstGeom>
        </p:spPr>
      </p:pic>
      <p:pic>
        <p:nvPicPr>
          <p:cNvPr id="123" name="Picture 122" descr="04_snoring_and_voice_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82112"/>
            <a:ext cx="3931920" cy="2457450"/>
          </a:xfrm>
          <a:prstGeom prst="rect">
            <a:avLst/>
          </a:prstGeom>
        </p:spPr>
      </p:pic>
      <p:pic>
        <p:nvPicPr>
          <p:cNvPr id="124" name="Picture 123" descr="05_bmi_stopbang_scree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182112"/>
            <a:ext cx="3931920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